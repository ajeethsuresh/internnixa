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7941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404" y="985838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INTERNIXA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96119" y="1641425"/>
            <a:ext cx="4722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AI-Monitored Learning Platform</a:t>
            </a:r>
            <a:endParaRPr lang="en-US" sz="3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96119" y="3076798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i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Bridging the Gap Between Online Learning and Real-World Accountability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96119" y="3725317"/>
            <a:ext cx="4722763" cy="1056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96119" y="3930774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Presented by </a:t>
            </a:r>
            <a:r>
              <a:rPr lang="en-US" sz="11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Ajeeth S</a:t>
            </a:r>
          </a:p>
          <a:p>
            <a:pPr marL="0" indent="0" algn="r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810022104308</a:t>
            </a:r>
          </a:p>
          <a:p>
            <a:pPr marL="0" indent="0" algn="r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3BA6E6-5CB9-D97B-E992-9F09C4A93A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32" y="80324"/>
            <a:ext cx="658400" cy="599714"/>
          </a:xfrm>
          <a:prstGeom prst="rect">
            <a:avLst/>
          </a:prstGeom>
          <a:noFill/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C817E4AE-C2A9-1440-6D5F-990DBC6DDAAC}"/>
              </a:ext>
            </a:extLst>
          </p:cNvPr>
          <p:cNvSpPr/>
          <p:nvPr/>
        </p:nvSpPr>
        <p:spPr>
          <a:xfrm>
            <a:off x="1335799" y="257978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COLLEGE OF ENGINEERING, 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ANNA UNIVERSITY - BIT CAMPUS, TIRUCHIRAPPALLI -620 024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ANNA UNIVERSITY :: CHENNAI -620 025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6" y="378693"/>
            <a:ext cx="3289474" cy="43860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17379" y="385018"/>
            <a:ext cx="4738241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The Problem with Online Learning Today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917379" y="1463204"/>
            <a:ext cx="4738241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Current e-learning platforms have </a:t>
            </a:r>
            <a:r>
              <a:rPr lang="en-US" sz="11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no mechanism to verify genuine student attention</a:t>
            </a:r>
            <a:r>
              <a:rPr lang="en-US" sz="1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creating a systemic gap between course completion and actual learning.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3917379" y="2282056"/>
            <a:ext cx="2300436" cy="1499964"/>
          </a:xfrm>
          <a:prstGeom prst="roundRect">
            <a:avLst>
              <a:gd name="adj" fmla="val 3908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075956" y="2440632"/>
            <a:ext cx="1983284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🎭</a:t>
            </a:r>
            <a:r>
              <a:rPr lang="en-US" sz="13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 No Attention Verification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075956" y="2959075"/>
            <a:ext cx="1983284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Students can play videos in the background without actively watching.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355184" y="2282056"/>
            <a:ext cx="2300436" cy="1499964"/>
          </a:xfrm>
          <a:prstGeom prst="roundRect">
            <a:avLst>
              <a:gd name="adj" fmla="val 3908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513761" y="2440632"/>
            <a:ext cx="1983284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📜</a:t>
            </a:r>
            <a:r>
              <a:rPr lang="en-US" sz="13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 Time-Based Certificates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513761" y="2959075"/>
            <a:ext cx="1983284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Certificates awarded purely on hours logged, not comprehension or focus.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917379" y="3919389"/>
            <a:ext cx="4738241" cy="839019"/>
          </a:xfrm>
          <a:prstGeom prst="roundRect">
            <a:avLst>
              <a:gd name="adj" fmla="val 6986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075956" y="4077965"/>
            <a:ext cx="1874788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📱</a:t>
            </a:r>
            <a:r>
              <a:rPr lang="en-US" sz="13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 Digital Distractions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075956" y="4378375"/>
            <a:ext cx="44210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Multitasking and off-screen activity go completely undetected.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3954AFE-87E0-991F-5D9B-1E78B6B20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156" y="4781499"/>
            <a:ext cx="1571844" cy="3620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785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Problem Impact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50435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 absence of real engagement monitoring has </a:t>
            </a:r>
            <a:r>
              <a:rPr lang="en-US" sz="11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cascading consequences</a:t>
            </a:r>
            <a:r>
              <a:rPr lang="en-US" sz="1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for learners, institutions, and the value of online education itself.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6119" y="2117452"/>
            <a:ext cx="4004965" cy="105318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2640" y="2263973"/>
            <a:ext cx="24954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📉</a:t>
            </a:r>
            <a:r>
              <a:rPr lang="en-US" sz="13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 Reduced Learning Quality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2640" y="2570485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Passive consumption replaces active understanding.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42842" y="2117452"/>
            <a:ext cx="4005039" cy="105318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89363" y="2263973"/>
            <a:ext cx="180989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🎓</a:t>
            </a:r>
            <a:r>
              <a:rPr lang="en-US" sz="13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 Fake Completions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89363" y="2570485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Courses marked complete without genuine participation.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96119" y="3312393"/>
            <a:ext cx="4004965" cy="105318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2640" y="3458914"/>
            <a:ext cx="1812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🏅</a:t>
            </a:r>
            <a:r>
              <a:rPr lang="en-US" sz="13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 Eroded Credibility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2640" y="3765426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Certificates lose trust when anyone can obtain them effortlessly.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42842" y="3312393"/>
            <a:ext cx="4005039" cy="105318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89363" y="345891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🔓</a:t>
            </a:r>
            <a:r>
              <a:rPr lang="en-US" sz="13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 Trust Breakdown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89363" y="3765426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Employers and institutions doubt the integrity of online credentials.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6DF6D18-3D11-FF83-5A11-6D712EBCD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2156" y="4781499"/>
            <a:ext cx="1571844" cy="3620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60" y="89334"/>
            <a:ext cx="3464793" cy="346479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04848" y="1206732"/>
            <a:ext cx="2332475" cy="325338"/>
          </a:xfrm>
          <a:prstGeom prst="roundRect">
            <a:avLst>
              <a:gd name="adj" fmla="val 19669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062513" y="1359463"/>
            <a:ext cx="2217289" cy="462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PROPOSED SOLUTION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703638" y="1821731"/>
            <a:ext cx="3360241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Real Engagement, </a:t>
            </a:r>
            <a:r>
              <a:rPr lang="en-US" sz="2000" b="1" dirty="0">
                <a:solidFill>
                  <a:srgbClr val="4950BC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Verified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703638" y="2223492"/>
            <a:ext cx="3739814" cy="52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INTERNIXA introduces an </a:t>
            </a:r>
            <a:r>
              <a:rPr lang="en-US" sz="12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AI-based engagement monitoring platform</a:t>
            </a:r>
            <a:r>
              <a:rPr lang="en-US" sz="12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that operates in real time ensuring every minute of learning is genuine and accountable.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9175" y="4034024"/>
            <a:ext cx="156121" cy="1561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18468" y="4030787"/>
            <a:ext cx="1848966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Real-Time Attention Tracking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318468" y="4239295"/>
            <a:ext cx="1992511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Continuously monitors student focus via webcam during active sessions.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5520" y="4034024"/>
            <a:ext cx="156121" cy="1561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744813" y="4030787"/>
            <a:ext cx="1992511" cy="325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Genuine Participation Enforcement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3744813" y="4401964"/>
            <a:ext cx="1992511" cy="433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Automatically intervenes when distraction is detected, preserving learning integrity.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71865" y="4034024"/>
            <a:ext cx="156121" cy="15612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71158" y="4030787"/>
            <a:ext cx="1992511" cy="325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Engagement-Driven Certification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6171158" y="4401964"/>
            <a:ext cx="1992511" cy="433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Certificates are earned — not just collected — based on verified focus metrics.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E5C96D5-21BB-2BE9-DEC8-8E28727E10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2156" y="4788873"/>
            <a:ext cx="1571844" cy="3620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359048"/>
            <a:ext cx="321186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Key Features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49610" y="993353"/>
            <a:ext cx="8244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INTERNIXA's feature set is purpose-built to </a:t>
            </a:r>
            <a:r>
              <a:rPr lang="en-US" sz="10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detect, respond to, and reward</a:t>
            </a: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genuine learner engagement at every stage of the session.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9610" y="1320254"/>
            <a:ext cx="256952" cy="2569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9610" y="1722686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Face Detection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49610" y="1993181"/>
            <a:ext cx="404961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Confirms the student's presence and identity throughout the session.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4703" y="1320254"/>
            <a:ext cx="256952" cy="2569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4703" y="1722686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Eye Gaze Tracking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644703" y="1993181"/>
            <a:ext cx="40496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Monitors where the student is looking in real time.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9610" y="2617887"/>
            <a:ext cx="256952" cy="2569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49610" y="3020318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Auto Video Pause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449610" y="3290813"/>
            <a:ext cx="404961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Pauses playback automatically when distraction is detected.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4703" y="2617887"/>
            <a:ext cx="256952" cy="25695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44703" y="3020318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Distraction Alerts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4644703" y="3290813"/>
            <a:ext cx="40496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Notifies the student to refocus with timely on-screen prompts.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9610" y="3719587"/>
            <a:ext cx="256952" cy="25695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49610" y="4122018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Puzzle Verification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449610" y="4392513"/>
            <a:ext cx="404961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Challenges the student to solve a puzzle before resuming the video.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4703" y="3719587"/>
            <a:ext cx="256952" cy="25695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44703" y="4122018"/>
            <a:ext cx="186466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Engagement Certificate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4644703" y="4392513"/>
            <a:ext cx="404968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Issued only when the student meets the minimum engagement threshold.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BAC51B0-27B2-0655-EB69-543D4A7606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2156" y="4781499"/>
            <a:ext cx="1571844" cy="3620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58229"/>
            <a:ext cx="2834655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System Architecture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4489" y="891183"/>
            <a:ext cx="779494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 streamlined </a:t>
            </a:r>
            <a:r>
              <a:rPr lang="en-US" sz="85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end-to-end pipeline</a:t>
            </a:r>
            <a:r>
              <a:rPr lang="en-US" sz="8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connects user authentication to certificate generation through continuous AI-driven monitoring at each stage.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9" y="1154757"/>
            <a:ext cx="7794947" cy="3366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34591" y="3432218"/>
            <a:ext cx="1157395" cy="421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Course Selection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534591" y="3913773"/>
            <a:ext cx="1157395" cy="302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Choose learning module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506484" y="3432218"/>
            <a:ext cx="1157394" cy="421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Face Detection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506484" y="3913773"/>
            <a:ext cx="1157394" cy="302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Locate and track face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52334" y="1458569"/>
            <a:ext cx="1157395" cy="210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Login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52334" y="1729326"/>
            <a:ext cx="1157395" cy="30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User authentication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944590" y="1458569"/>
            <a:ext cx="1157395" cy="421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Focus Analysis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944590" y="1940124"/>
            <a:ext cx="1157395" cy="30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Assess attention levels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038982" y="1458569"/>
            <a:ext cx="1157395" cy="421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Webcam Activation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038982" y="1940124"/>
            <a:ext cx="1157395" cy="30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Enable camera stream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74489" y="4622899"/>
            <a:ext cx="779494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Every stage is interconnected — distraction events trigger immediate responses while all focus data is persisted for final engagement evaluation.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6D3A3DB-2FBD-F53D-2425-91AB5A15CE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156" y="4781499"/>
            <a:ext cx="1571844" cy="3620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70731"/>
            <a:ext cx="3267224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Technology Stack</a:t>
            </a:r>
            <a:endParaRPr lang="en-US" sz="2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3289" y="959793"/>
            <a:ext cx="4143375" cy="3812977"/>
          </a:xfrm>
          <a:prstGeom prst="roundRect">
            <a:avLst>
              <a:gd name="adj" fmla="val 2468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3961" y="1080269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Frontend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3961" y="1436191"/>
            <a:ext cx="130671" cy="13067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3961" y="1627733"/>
            <a:ext cx="3882033" cy="14288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93961" y="1721644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React.js + Vite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93961" y="2046238"/>
            <a:ext cx="388203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Fast, modular UI with hot-module replacement.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3961" y="2481858"/>
            <a:ext cx="130671" cy="13067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93961" y="2673400"/>
            <a:ext cx="3882033" cy="14288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93961" y="2767310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MediaPipe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93961" y="3091904"/>
            <a:ext cx="388203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Real-time facial landmark detection in the browser.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3961" y="3527524"/>
            <a:ext cx="130671" cy="130671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93961" y="3719066"/>
            <a:ext cx="3882033" cy="14288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493961" y="3812977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YouTube API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493961" y="4137571"/>
            <a:ext cx="388203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Seamless video embedding with programmatic playback control.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4736157" y="1080269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Backend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6157" y="1436191"/>
            <a:ext cx="130671" cy="130671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736157" y="1627733"/>
            <a:ext cx="3955256" cy="14288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4736157" y="1721644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FastAPI + Uvicorn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4736157" y="2046238"/>
            <a:ext cx="395525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High-performance async REST API framework.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36157" y="2481858"/>
            <a:ext cx="130671" cy="130671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736157" y="2673400"/>
            <a:ext cx="3955256" cy="14288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4736157" y="2767310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MongoDB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8"/>
          <p:cNvSpPr/>
          <p:nvPr/>
        </p:nvSpPr>
        <p:spPr>
          <a:xfrm>
            <a:off x="4736157" y="3091904"/>
            <a:ext cx="395525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Flexible NoSQL storage for engagement session data.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36157" y="3527524"/>
            <a:ext cx="130671" cy="130671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4736157" y="3719066"/>
            <a:ext cx="3955256" cy="14288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4736157" y="3812977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JWT + Passlib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4736157" y="4137571"/>
            <a:ext cx="395525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Secure token-based authentication and password hashing.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CF51C1-1FCD-4EB1-6603-5BB8B368B2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2156" y="4781499"/>
            <a:ext cx="1571844" cy="3620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489" y="1625724"/>
            <a:ext cx="495002" cy="197644"/>
          </a:xfrm>
          <a:prstGeom prst="roundRect">
            <a:avLst>
              <a:gd name="adj" fmla="val 19205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42206" y="1659582"/>
            <a:ext cx="359569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AI CORE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4489" y="1859310"/>
            <a:ext cx="3247206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Focus Detection Engine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74489" y="2302222"/>
            <a:ext cx="416316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Powered by </a:t>
            </a:r>
            <a:r>
              <a:rPr lang="en-US" sz="85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MediaPipe's 468-point facial landmark model</a:t>
            </a:r>
            <a:r>
              <a:rPr lang="en-US" sz="8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, INTERNIXA calculates gaze direction in real time using eye and nose position vectors.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050" y="438224"/>
            <a:ext cx="3356074" cy="335607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74489" y="3996705"/>
            <a:ext cx="2538338" cy="809699"/>
          </a:xfrm>
          <a:prstGeom prst="roundRect">
            <a:avLst>
              <a:gd name="adj" fmla="val 8470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60202" y="3996705"/>
            <a:ext cx="57150" cy="809699"/>
          </a:xfrm>
          <a:prstGeom prst="roundRect">
            <a:avLst>
              <a:gd name="adj" fmla="val 8302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44600" y="4123953"/>
            <a:ext cx="1519982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468 Facial Landmarks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44600" y="4354413"/>
            <a:ext cx="224097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High-resolution mesh maps the entire face for precise spatial tracking.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302794" y="3996705"/>
            <a:ext cx="2538338" cy="809699"/>
          </a:xfrm>
          <a:prstGeom prst="roundRect">
            <a:avLst>
              <a:gd name="adj" fmla="val 8470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88506" y="3996705"/>
            <a:ext cx="57150" cy="809699"/>
          </a:xfrm>
          <a:prstGeom prst="roundRect">
            <a:avLst>
              <a:gd name="adj" fmla="val 8302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472904" y="412395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Deviation Detection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472904" y="4354413"/>
            <a:ext cx="224097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Gaze deviation beyond a calibrated threshold flags a distraction event.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931098" y="3996705"/>
            <a:ext cx="2538338" cy="809699"/>
          </a:xfrm>
          <a:prstGeom prst="roundRect">
            <a:avLst>
              <a:gd name="adj" fmla="val 8470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916811" y="3996705"/>
            <a:ext cx="57150" cy="809699"/>
          </a:xfrm>
          <a:prstGeom prst="roundRect">
            <a:avLst>
              <a:gd name="adj" fmla="val 8302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101209" y="412395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800ms Delay Buffer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101209" y="4354413"/>
            <a:ext cx="224097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Prevents false positives from brief, natural head movements.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40CFF8A-11FF-5B25-1A5C-AE715F97FC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156" y="4827811"/>
            <a:ext cx="1571844" cy="3156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15962"/>
            <a:ext cx="6102548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Engagement Metric &amp; Certification Threshold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0912" y="835075"/>
            <a:ext cx="7642101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INTERNIXA calculates a </a:t>
            </a:r>
            <a:r>
              <a:rPr lang="en-US" sz="85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precise, objective engagement score</a:t>
            </a:r>
            <a:r>
              <a:rPr lang="en-US" sz="8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to determine certificate eligibility — replacing subjective time-logging with verifiable focus data.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0912" y="1247924"/>
            <a:ext cx="7642101" cy="1138758"/>
          </a:xfrm>
          <a:prstGeom prst="roundRect">
            <a:avLst>
              <a:gd name="adj" fmla="val 408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55675" y="1252686"/>
            <a:ext cx="3816251" cy="1129233"/>
          </a:xfrm>
          <a:prstGeom prst="roundRect">
            <a:avLst>
              <a:gd name="adj" fmla="val 4119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6403" y="1363414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The Formula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6403" y="1588294"/>
            <a:ext cx="3594795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Engagement (%) = Active Time ÷ Total Time × 100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6403" y="1797918"/>
            <a:ext cx="3594795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Active time counts only periods of verified, uninterrupted attention.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1926" y="1252686"/>
            <a:ext cx="3816325" cy="1129233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1926" y="1252686"/>
            <a:ext cx="14288" cy="1129233"/>
          </a:xfrm>
          <a:prstGeom prst="roundRect">
            <a:avLst>
              <a:gd name="adj" fmla="val 325570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82654" y="1363414"/>
            <a:ext cx="156753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Certification Threshold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82654" y="1588294"/>
            <a:ext cx="3594869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 minimum score of </a:t>
            </a:r>
            <a:r>
              <a:rPr lang="en-US" sz="85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75%</a:t>
            </a:r>
            <a:r>
              <a:rPr lang="en-US" sz="8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is required to qualify for certificate generation.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82654" y="1955676"/>
            <a:ext cx="3594869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Students below the threshold must re-engage with the course content.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07381" y="3203897"/>
            <a:ext cx="136222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75%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883" y="2511698"/>
            <a:ext cx="1661294" cy="166129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96293" y="4287143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Minimum Threshold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50912" y="4512022"/>
            <a:ext cx="2475235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Required to unlock the engagement-verified certificate.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890739" y="3203897"/>
            <a:ext cx="136222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468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1241" y="2511698"/>
            <a:ext cx="1661294" cy="166129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879726" y="4287143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Landmark Points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3334271" y="4512022"/>
            <a:ext cx="2475309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Tracked per frame for high-fidelity gaze analysis.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6474172" y="3203897"/>
            <a:ext cx="136222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800ms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74" y="2511698"/>
            <a:ext cx="1661294" cy="166129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63159" y="4287143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Alert Delay Buffer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5917704" y="4512022"/>
            <a:ext cx="2475309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Grace period to eliminate false distraction flags.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A4F12E6-F785-0FDC-B2DA-2C1B145DF6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2156" y="4781499"/>
            <a:ext cx="1571844" cy="3620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78023"/>
            <a:ext cx="3780904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Conclusion &amp; Future Scope</a:t>
            </a: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8066" y="971848"/>
            <a:ext cx="1811610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What INTERNIXA Delivers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98066" y="1257002"/>
            <a:ext cx="259110" cy="259110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714" y="1296591"/>
            <a:ext cx="2041699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Real Engagement in Learning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50714" y="1570062"/>
            <a:ext cx="348071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Eliminates passive consumption — every certified session is genuinely attended.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8066" y="2091184"/>
            <a:ext cx="259110" cy="259110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50714" y="2130772"/>
            <a:ext cx="217512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Restored Certificate Credibility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50714" y="2404244"/>
            <a:ext cx="348071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Employers and institutions can trust credentials backed by AI-verified focus data.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17182" y="971848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Future Roadmap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32375" y="1429717"/>
            <a:ext cx="115119" cy="664890"/>
          </a:xfrm>
          <a:prstGeom prst="roundRect">
            <a:avLst>
              <a:gd name="adj" fmla="val 4202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17182" y="1354187"/>
            <a:ext cx="345504" cy="345504"/>
          </a:xfrm>
          <a:prstGeom prst="roundRect">
            <a:avLst>
              <a:gd name="adj" fmla="val 827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3577" y="1440582"/>
            <a:ext cx="172715" cy="17271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156225" y="1372121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Emotion Detection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156225" y="1645593"/>
            <a:ext cx="3394323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Gauge learner sentiment to adapt content difficulty in real time.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005090" y="2360935"/>
            <a:ext cx="115119" cy="664890"/>
          </a:xfrm>
          <a:prstGeom prst="roundRect">
            <a:avLst>
              <a:gd name="adj" fmla="val 4202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889897" y="2285405"/>
            <a:ext cx="345504" cy="345504"/>
          </a:xfrm>
          <a:prstGeom prst="roundRect">
            <a:avLst>
              <a:gd name="adj" fmla="val 827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76292" y="2371799"/>
            <a:ext cx="172715" cy="17271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28940" y="2303338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Multi-User Tracking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5328940" y="2576810"/>
            <a:ext cx="322160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Scale monitoring to classroom and group learning environments.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5177879" y="3292153"/>
            <a:ext cx="115119" cy="664890"/>
          </a:xfrm>
          <a:prstGeom prst="roundRect">
            <a:avLst>
              <a:gd name="adj" fmla="val 4202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5062686" y="3216622"/>
            <a:ext cx="345504" cy="345504"/>
          </a:xfrm>
          <a:prstGeom prst="roundRect">
            <a:avLst>
              <a:gd name="adj" fmla="val 827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49081" y="3303017"/>
            <a:ext cx="172715" cy="17271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501729" y="3234556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LMS Integration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5501729" y="3508028"/>
            <a:ext cx="3048819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Plug into existing platforms like Moodle, Canvas, and Coursera.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598066" y="4167560"/>
            <a:ext cx="7947794" cy="597917"/>
          </a:xfrm>
          <a:prstGeom prst="roundRect">
            <a:avLst>
              <a:gd name="adj" fmla="val 8091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184" y="4334470"/>
            <a:ext cx="143917" cy="11511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72220" y="4289822"/>
            <a:ext cx="7458521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INTERNIXA redefines what it means to </a:t>
            </a:r>
            <a:r>
              <a:rPr lang="en-US" sz="900" b="1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earn</a:t>
            </a:r>
            <a:r>
              <a:rPr lang="en-US" sz="9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a certificate — transforming online learning from a passive activity into a verified, accountable experience.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683A036-8551-C78C-C3D8-ACA6427DC7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2156" y="4781499"/>
            <a:ext cx="1571844" cy="3620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768</Words>
  <Application>Microsoft Office PowerPoint</Application>
  <PresentationFormat>On-screen Show (16:9)</PresentationFormat>
  <Paragraphs>128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Ajeeth S</dc:creator>
  <cp:lastModifiedBy>Ajeeth S</cp:lastModifiedBy>
  <cp:revision>4</cp:revision>
  <dcterms:created xsi:type="dcterms:W3CDTF">2026-05-06T04:40:15Z</dcterms:created>
  <dcterms:modified xsi:type="dcterms:W3CDTF">2026-05-06T06:00:30Z</dcterms:modified>
</cp:coreProperties>
</file>