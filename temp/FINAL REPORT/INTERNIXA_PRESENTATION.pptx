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INTERNIXA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AI-Monitored E-Learning Ecosystem with</a:t>
            </a:r>
          </a:p>
          <a:p>
            <a:r>
              <a:t>Real-time Engagement Intelligence and Generative AI Assistance</a:t>
            </a:r>
          </a:p>
          <a:p/>
          <a:p>
            <a:r>
              <a:t>By: [STUDENT NAMES]</a:t>
            </a:r>
          </a:p>
          <a:p>
            <a:r>
              <a:t>Guide: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Introduction: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Growth of E-Learning: Global shift to digital education post-pandemic.</a:t>
            </a:r>
          </a:p>
          <a:p>
            <a:pPr>
              <a:spcAft>
                <a:spcPts val="1000"/>
              </a:spcAft>
              <a:defRPr sz="2000"/>
            </a:pPr>
            <a:r>
              <a:t>Passive Learning Crisis: Students often play videos without active attention.</a:t>
            </a:r>
          </a:p>
          <a:p>
            <a:pPr>
              <a:spcAft>
                <a:spcPts val="1000"/>
              </a:spcAft>
              <a:defRPr sz="2000"/>
            </a:pPr>
            <a:r>
              <a:t>Monitoring Gap: Existing platforms lack a way to verify student presence.</a:t>
            </a:r>
          </a:p>
          <a:p>
            <a:pPr>
              <a:spcAft>
                <a:spcPts val="1000"/>
              </a:spcAft>
              <a:defRPr sz="2000"/>
            </a:pPr>
            <a:r>
              <a:t>Academic Friction: Need for digital mentorship and accountability.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Lack of Accountability: Purely watch-time based certifications are unreliable.</a:t>
            </a:r>
          </a:p>
          <a:p>
            <a:pPr>
              <a:spcAft>
                <a:spcPts val="1000"/>
              </a:spcAft>
              <a:defRPr sz="2000"/>
            </a:pPr>
            <a:r>
              <a:t>AI Hallucinations: Generic chatbots provide irrelevant academic help.</a:t>
            </a:r>
          </a:p>
          <a:p>
            <a:pPr>
              <a:spcAft>
                <a:spcPts val="1000"/>
              </a:spcAft>
              <a:defRPr sz="2000"/>
            </a:pPr>
            <a:r>
              <a:t>Low Engagement: Passive content consumption leads to high dropout rates.</a:t>
            </a:r>
          </a:p>
          <a:p>
            <a:pPr>
              <a:spcAft>
                <a:spcPts val="1000"/>
              </a:spcAft>
              <a:defRPr sz="2000"/>
            </a:pPr>
            <a:r>
              <a:t>No Real-time Feedback: Instructors cannot monitor student focus in live meets.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Implement real-time AI attention monitoring (&lt;100ms latency).</a:t>
            </a:r>
          </a:p>
          <a:p>
            <a:pPr>
              <a:spcAft>
                <a:spcPts val="1000"/>
              </a:spcAft>
              <a:defRPr sz="2000"/>
            </a:pPr>
            <a:r>
              <a:t>Develop intelligent video pause/resume based on EAR &amp; Gaze.</a:t>
            </a:r>
          </a:p>
          <a:p>
            <a:pPr>
              <a:spcAft>
                <a:spcPts val="1000"/>
              </a:spcAft>
              <a:defRPr sz="2000"/>
            </a:pPr>
            <a:r>
              <a:t>Build a context-locked RAG Chatbot grounded in course transcripts.</a:t>
            </a:r>
          </a:p>
          <a:p>
            <a:pPr>
              <a:spcAft>
                <a:spcPts val="1000"/>
              </a:spcAft>
              <a:defRPr sz="2000"/>
            </a:pPr>
            <a:r>
              <a:t>Generate engagement-gated certifications (threshold: 75%).</a:t>
            </a:r>
          </a:p>
          <a:p>
            <a:pPr>
              <a:spcAft>
                <a:spcPts val="1000"/>
              </a:spcAft>
              <a:defRPr sz="2000"/>
            </a:pPr>
            <a:r>
              <a:t>Create a gamified learning environment with Focus Points (FP).</a:t>
            </a:r>
          </a:p>
        </p:txBody>
      </p:sp>
      <p:pic>
        <p:nvPicPr>
          <p:cNvPr id="4" name="Picture 3" descr="fig1_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657600" cy="1960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Literature Review (AI Vision)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MediaPipe Face Mesh (Google): 468 3D landmarks for real-time tracking.</a:t>
            </a:r>
          </a:p>
          <a:p>
            <a:pPr>
              <a:spcAft>
                <a:spcPts val="1000"/>
              </a:spcAft>
              <a:defRPr sz="2000"/>
            </a:pPr>
            <a:r>
              <a:t>Eye Aspect Ratio (Soukupova &amp; Cech): Euclidean distance for blink detection.</a:t>
            </a:r>
          </a:p>
          <a:p>
            <a:pPr>
              <a:spcAft>
                <a:spcPts val="1000"/>
              </a:spcAft>
              <a:defRPr sz="2000"/>
            </a:pPr>
            <a:r>
              <a:t>Head Pose Estimation: Used for calculating gaze deviation and distraction.</a:t>
            </a:r>
          </a:p>
        </p:txBody>
      </p:sp>
      <p:pic>
        <p:nvPicPr>
          <p:cNvPr id="4" name="Picture 3" descr="fig3_5_face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657600" cy="37704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Literature Review (AI &amp; Web)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RAG Pipeline (Lewis et al.): Grounding LLMs in external knowledge stores.</a:t>
            </a:r>
          </a:p>
          <a:p>
            <a:pPr>
              <a:spcAft>
                <a:spcPts val="1000"/>
              </a:spcAft>
              <a:defRPr sz="2000"/>
            </a:pPr>
            <a:r>
              <a:t>WebRTC (W3C): Peer-to-peer real-time communication for browser meetings.</a:t>
            </a:r>
          </a:p>
          <a:p>
            <a:pPr>
              <a:spcAft>
                <a:spcPts val="1000"/>
              </a:spcAft>
              <a:defRPr sz="2000"/>
            </a:pPr>
            <a:r>
              <a:t>Gamification Theory: Points-Badges-Leaderboards (PBL) for motivation.</a:t>
            </a:r>
          </a:p>
        </p:txBody>
      </p:sp>
      <p:pic>
        <p:nvPicPr>
          <p:cNvPr id="4" name="Picture 3" descr="fig3_8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4114800" cy="15073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Traditional LMS: Passive, no monitoring, generic AI, time-based certs.</a:t>
            </a:r>
          </a:p>
          <a:p>
            <a:pPr>
              <a:spcAft>
                <a:spcPts val="1000"/>
              </a:spcAft>
              <a:defRPr sz="2000"/>
            </a:pPr>
            <a:r>
              <a:t>INTERNIXA: Active vigilance, context-locked AI, focus-based certs.</a:t>
            </a:r>
          </a:p>
          <a:p>
            <a:pPr>
              <a:spcAft>
                <a:spcPts val="1000"/>
              </a:spcAft>
              <a:defRPr sz="2000"/>
            </a:pPr>
            <a:r>
              <a:t>Gamification: Real-time leaderboard vs. zero engagement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Proposed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Closed-loop Ecosystem: Connects vision, chat, and certification.</a:t>
            </a:r>
          </a:p>
          <a:p>
            <a:pPr>
              <a:spcAft>
                <a:spcPts val="1000"/>
              </a:spcAft>
              <a:defRPr sz="2000"/>
            </a:pPr>
            <a:r>
              <a:t>Edge AI Strategy: On-device processing for privacy and low latency.</a:t>
            </a:r>
          </a:p>
          <a:p>
            <a:pPr>
              <a:spcAft>
                <a:spcPts val="1000"/>
              </a:spcAft>
              <a:defRPr sz="2000"/>
            </a:pPr>
            <a:r>
              <a:t>Admin/Recruiter Portal: Direct talent scouting based on focus data.</a:t>
            </a:r>
          </a:p>
          <a:p>
            <a:pPr>
              <a:spcAft>
                <a:spcPts val="1000"/>
              </a:spcAft>
              <a:defRPr sz="2000"/>
            </a:pPr>
            <a:r>
              <a:t>Multi-persona support: Students, Instructors, and Recruiters.</a:t>
            </a:r>
          </a:p>
        </p:txBody>
      </p:sp>
      <p:pic>
        <p:nvPicPr>
          <p:cNvPr id="4" name="Picture 3" descr="fig3_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4114800" cy="26028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371600"/>
          </a:xfrm>
        </p:spPr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fig3_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858000" cy="4338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371600"/>
          </a:xfrm>
        </p:spPr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Functional Data Flow (DFD)</a:t>
            </a:r>
          </a:p>
        </p:txBody>
      </p:sp>
      <p:pic>
        <p:nvPicPr>
          <p:cNvPr id="3" name="Picture 2" descr="fig3_4_df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858000" cy="41869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Methodology: AI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Frame capture at 30 FPS.</a:t>
            </a:r>
          </a:p>
          <a:p>
            <a:pPr>
              <a:spcAft>
                <a:spcPts val="1000"/>
              </a:spcAft>
              <a:defRPr sz="2000"/>
            </a:pPr>
            <a:r>
              <a:t>MediaPipe Face Mesh landmark extraction.</a:t>
            </a:r>
          </a:p>
          <a:p>
            <a:pPr>
              <a:spcAft>
                <a:spcPts val="1000"/>
              </a:spcAft>
              <a:defRPr sz="2000"/>
            </a:pPr>
            <a:r>
              <a:t>Privacy: No video leaves the student's browser.</a:t>
            </a:r>
          </a:p>
          <a:p>
            <a:pPr>
              <a:spcAft>
                <a:spcPts val="1000"/>
              </a:spcAft>
              <a:defRPr sz="2000"/>
            </a:pPr>
            <a:r>
              <a:t>Hysteresis logic to prevent flickering during blinks.</a:t>
            </a:r>
          </a:p>
        </p:txBody>
      </p:sp>
      <p:pic>
        <p:nvPicPr>
          <p:cNvPr id="4" name="Picture 3" descr="fig3_5_face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657600" cy="37704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EAR &amp; Gaze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EAR Formula: Vertical vs. Horizontal eye ratios.</a:t>
            </a:r>
          </a:p>
          <a:p>
            <a:pPr>
              <a:spcAft>
                <a:spcPts val="1000"/>
              </a:spcAft>
              <a:defRPr sz="2000"/>
            </a:pPr>
            <a:r>
              <a:t>Blink Detection: EAR &lt; 0.20 for 3 consecutive frames.</a:t>
            </a:r>
          </a:p>
          <a:p>
            <a:pPr>
              <a:spcAft>
                <a:spcPts val="1000"/>
              </a:spcAft>
              <a:defRPr sz="2000"/>
            </a:pPr>
            <a:r>
              <a:t>Gaze Deviation: Nose tip offset from eye midpoint.</a:t>
            </a:r>
          </a:p>
          <a:p>
            <a:pPr>
              <a:spcAft>
                <a:spcPts val="1000"/>
              </a:spcAft>
              <a:defRPr sz="2000"/>
            </a:pPr>
            <a:r>
              <a:t>Auto-pause triggered if deviation &gt; 35% of eye width.</a:t>
            </a:r>
          </a:p>
        </p:txBody>
      </p:sp>
      <p:pic>
        <p:nvPicPr>
          <p:cNvPr id="4" name="Picture 3" descr="fig3_6_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657600" cy="24333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RAG Chatbot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Transcript Chunking: 500-char segments with overlap.</a:t>
            </a:r>
          </a:p>
          <a:p>
            <a:pPr>
              <a:spcAft>
                <a:spcPts val="1000"/>
              </a:spcAft>
              <a:defRPr sz="2000"/>
            </a:pPr>
            <a:r>
              <a:t>Vectorization: Text-embedding-004 to Pinecone.</a:t>
            </a:r>
          </a:p>
          <a:p>
            <a:pPr>
              <a:spcAft>
                <a:spcPts val="1000"/>
              </a:spcAft>
              <a:defRPr sz="2000"/>
            </a:pPr>
            <a:r>
              <a:t>Retrieval: Top-3 chunks via Cosine Similarity.</a:t>
            </a:r>
          </a:p>
          <a:p>
            <a:pPr>
              <a:spcAft>
                <a:spcPts val="1000"/>
              </a:spcAft>
              <a:defRPr sz="2000"/>
            </a:pPr>
            <a:r>
              <a:t>Generation: Context-injected Gemini LLM response.</a:t>
            </a:r>
          </a:p>
        </p:txBody>
      </p:sp>
      <p:pic>
        <p:nvPicPr>
          <p:cNvPr id="4" name="Picture 3" descr="fig3_8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657600" cy="13398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WebRTC &amp; Live Signaling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Peer-to-Peer Architecture: RTCPeerConnection.</a:t>
            </a:r>
          </a:p>
          <a:p>
            <a:pPr>
              <a:spcAft>
                <a:spcPts val="1000"/>
              </a:spcAft>
              <a:defRPr sz="2000"/>
            </a:pPr>
            <a:r>
              <a:t>Signaling: Socket.IO for SDP and ICE exchange.</a:t>
            </a:r>
          </a:p>
          <a:p>
            <a:pPr>
              <a:spcAft>
                <a:spcPts val="1000"/>
              </a:spcAft>
              <a:defRPr sz="2000"/>
            </a:pPr>
            <a:r>
              <a:t>Host HUD: Real-time engagement alerts for all participants.</a:t>
            </a:r>
          </a:p>
          <a:p>
            <a:pPr>
              <a:spcAft>
                <a:spcPts val="1000"/>
              </a:spcAft>
              <a:defRPr sz="2000"/>
            </a:pPr>
            <a:r>
              <a:t>Anomaly detection: Detecting sleep/absent states.</a:t>
            </a:r>
          </a:p>
        </p:txBody>
      </p:sp>
      <p:pic>
        <p:nvPicPr>
          <p:cNvPr id="4" name="Picture 3" descr="fig3_9_webr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657600" cy="23105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Module Breakdown (Modules 1-4)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M1: AI Monitoring Engine (React/MediaPipe).</a:t>
            </a:r>
          </a:p>
          <a:p>
            <a:pPr>
              <a:spcAft>
                <a:spcPts val="1000"/>
              </a:spcAft>
              <a:defRPr sz="2000"/>
            </a:pPr>
            <a:r>
              <a:t>M2: Smart Course Player (State-sync with AI).</a:t>
            </a:r>
          </a:p>
          <a:p>
            <a:pPr>
              <a:spcAft>
                <a:spcPts val="1000"/>
              </a:spcAft>
              <a:defRPr sz="2000"/>
            </a:pPr>
            <a:r>
              <a:t>M3: RAG Chatbot (Pinecone/Gemini integration).</a:t>
            </a:r>
          </a:p>
          <a:p>
            <a:pPr>
              <a:spcAft>
                <a:spcPts val="1000"/>
              </a:spcAft>
              <a:defRPr sz="2000"/>
            </a:pPr>
            <a:r>
              <a:t>M4: Live WebRTC Meeting System (Socket.IO).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Module Breakdown (Modules 5-8)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M5: Gamification Engine (FP &amp; Leaderboard).</a:t>
            </a:r>
          </a:p>
          <a:p>
            <a:pPr>
              <a:spcAft>
                <a:spcPts val="1000"/>
              </a:spcAft>
              <a:defRPr sz="2000"/>
            </a:pPr>
            <a:r>
              <a:t>M6: Certificate Generation (ReportLab PDF).</a:t>
            </a:r>
          </a:p>
          <a:p>
            <a:pPr>
              <a:spcAft>
                <a:spcPts val="1000"/>
              </a:spcAft>
              <a:defRPr sz="2000"/>
            </a:pPr>
            <a:r>
              <a:t>M7: Smart Study Sheets (AI Summaries).</a:t>
            </a:r>
          </a:p>
          <a:p>
            <a:pPr>
              <a:spcAft>
                <a:spcPts val="1000"/>
              </a:spcAft>
              <a:defRPr sz="2000"/>
            </a:pPr>
            <a:r>
              <a:t>M8: Recruiter Portal (Hiring &amp; Scouting).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Implementation: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Frontend: React 19 + Vite + TailwindCSS.</a:t>
            </a:r>
          </a:p>
          <a:p>
            <a:pPr>
              <a:spcAft>
                <a:spcPts val="1000"/>
              </a:spcAft>
              <a:defRPr sz="2000"/>
            </a:pPr>
            <a:r>
              <a:t>Backend: FastAPI (Python) + Uvicorn.</a:t>
            </a:r>
          </a:p>
          <a:p>
            <a:pPr>
              <a:spcAft>
                <a:spcPts val="1000"/>
              </a:spcAft>
              <a:defRPr sz="2000"/>
            </a:pPr>
            <a:r>
              <a:t>Databases: MongoDB Atlas + Pinecone Vector DB.</a:t>
            </a:r>
          </a:p>
          <a:p>
            <a:pPr>
              <a:spcAft>
                <a:spcPts val="1000"/>
              </a:spcAft>
              <a:defRPr sz="2000"/>
            </a:pPr>
            <a:r>
              <a:t>AI: MediaPipe + Google Gemini 1.5 Flash.</a:t>
            </a:r>
          </a:p>
          <a:p>
            <a:pPr>
              <a:spcAft>
                <a:spcPts val="1000"/>
              </a:spcAft>
              <a:defRPr sz="2000"/>
            </a:pPr>
            <a:r>
              <a:t>Deployment: Vercel + Railway Cloud.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AI Inference: ~28ms per frame (Smooth 35 FPS).</a:t>
            </a:r>
          </a:p>
          <a:p>
            <a:pPr>
              <a:spcAft>
                <a:spcPts val="1000"/>
              </a:spcAft>
              <a:defRPr sz="2000"/>
            </a:pPr>
            <a:r>
              <a:t>API Response: &lt;200ms average latency.</a:t>
            </a:r>
          </a:p>
          <a:p>
            <a:pPr>
              <a:spcAft>
                <a:spcPts val="1000"/>
              </a:spcAft>
              <a:defRPr sz="2000"/>
            </a:pPr>
            <a:r>
              <a:t>WebRTC Join: ~2.4s connection establishment.</a:t>
            </a:r>
          </a:p>
          <a:p>
            <a:pPr>
              <a:spcAft>
                <a:spcPts val="1000"/>
              </a:spcAft>
              <a:defRPr sz="2000"/>
            </a:pPr>
            <a:r>
              <a:t>Accuracy: &gt;95% attention state detection accuracy.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Results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Engagement Uplift: +38% focus rate vs. passive LMS.</a:t>
            </a:r>
          </a:p>
          <a:p>
            <a:pPr>
              <a:spcAft>
                <a:spcPts val="1000"/>
              </a:spcAft>
              <a:defRPr sz="2000"/>
            </a:pPr>
            <a:r>
              <a:t>Integrity: Certificates issued only for verified focus.</a:t>
            </a:r>
          </a:p>
          <a:p>
            <a:pPr>
              <a:spcAft>
                <a:spcPts val="1000"/>
              </a:spcAft>
              <a:defRPr sz="2000"/>
            </a:pPr>
            <a:r>
              <a:t>Gamification Impact: 87% weekly leaderboard engagement.</a:t>
            </a:r>
          </a:p>
          <a:p>
            <a:pPr>
              <a:spcAft>
                <a:spcPts val="1000"/>
              </a:spcAft>
              <a:defRPr sz="2000"/>
            </a:pPr>
            <a:r>
              <a:t>Recruiter Feedback: High value in 'Focus Score' metrics.</a:t>
            </a:r>
          </a:p>
        </p:txBody>
      </p:sp>
      <p:pic>
        <p:nvPicPr>
          <p:cNvPr id="4" name="Picture 3" descr="fig4_3_f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657600" cy="42693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E40A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Summary: Successfully built a closed-loop AI learning system.</a:t>
            </a:r>
          </a:p>
          <a:p>
            <a:pPr>
              <a:spcAft>
                <a:spcPts val="1000"/>
              </a:spcAft>
              <a:defRPr sz="2000"/>
            </a:pPr>
            <a:r>
              <a:t>Multi-face Detection: Preventing proxy attendance.</a:t>
            </a:r>
          </a:p>
          <a:p>
            <a:pPr>
              <a:spcAft>
                <a:spcPts val="1000"/>
              </a:spcAft>
              <a:defRPr sz="2000"/>
            </a:pPr>
            <a:r>
              <a:t>Mobile Port: Bringing AI monitoring to Flutter/Mobile.</a:t>
            </a:r>
          </a:p>
          <a:p>
            <a:pPr>
              <a:spcAft>
                <a:spcPts val="1000"/>
              </a:spcAft>
              <a:defRPr sz="2000"/>
            </a:pPr>
            <a:r>
              <a:t>LMS Plugin: Integration with Moodle and Canvas.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